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388" r:id="rId2"/>
    <p:sldId id="389" r:id="rId3"/>
    <p:sldId id="256" r:id="rId4"/>
    <p:sldId id="390" r:id="rId5"/>
    <p:sldId id="257" r:id="rId6"/>
    <p:sldId id="392" r:id="rId7"/>
    <p:sldId id="391" r:id="rId8"/>
    <p:sldId id="387" r:id="rId9"/>
    <p:sldId id="386" r:id="rId1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jdo7FECp685JsX7/4pIVeoAktj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7"/>
    <p:restoredTop sz="94633"/>
  </p:normalViewPr>
  <p:slideViewPr>
    <p:cSldViewPr snapToGrid="0">
      <p:cViewPr varScale="1">
        <p:scale>
          <a:sx n="147" d="100"/>
          <a:sy n="147" d="100"/>
        </p:scale>
        <p:origin x="1256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A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 txBox="1">
            <a:spLocks noGrp="1"/>
          </p:cNvSpPr>
          <p:nvPr>
            <p:ph type="sldNum" idx="12"/>
          </p:nvPr>
        </p:nvSpPr>
        <p:spPr>
          <a:xfrm>
            <a:off x="6042320" y="9493393"/>
            <a:ext cx="169918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lang="en-AU" sz="1800" b="0" i="0" u="none" strike="noStrike" cap="none">
                <a:solidFill>
                  <a:srgbClr val="000000"/>
                </a:solidFill>
              </a:rPr>
              <a:t>3</a:t>
            </a:fld>
            <a:endParaRPr sz="1800" b="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17" name="Google Shape;1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319338" y="1265238"/>
            <a:ext cx="11201401" cy="8401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" name="Google Shape;18;p1:notes"/>
          <p:cNvSpPr txBox="1">
            <a:spLocks noGrp="1"/>
          </p:cNvSpPr>
          <p:nvPr>
            <p:ph type="body" idx="1"/>
          </p:nvPr>
        </p:nvSpPr>
        <p:spPr>
          <a:xfrm>
            <a:off x="789535" y="605318"/>
            <a:ext cx="547079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b="1"/>
              <a:t>Hypothesis: </a:t>
            </a:r>
            <a:r>
              <a:rPr lang="en-AU" sz="12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a Hypothesis with an emphasis on SMART principles. </a:t>
            </a:r>
            <a:r>
              <a:rPr lang="en-AU" sz="12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AU" sz="1200" b="1" i="1"/>
              <a:t>S – Specific, M – Measurable, A – Achievable, R – Realistic, T – Timebound). </a:t>
            </a:r>
            <a:r>
              <a:rPr lang="en-AU" sz="1200" b="0" i="0"/>
              <a:t>If you cannot do this, you </a:t>
            </a:r>
            <a:r>
              <a:rPr lang="en-AU" sz="1200" b="1" i="0"/>
              <a:t>do not</a:t>
            </a:r>
            <a:r>
              <a:rPr lang="en-AU" sz="1200" b="0" i="0"/>
              <a:t> have a good grasp on the business problem.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b="1"/>
              <a:t>Context: </a:t>
            </a:r>
            <a:r>
              <a:rPr lang="en-AU" sz="1200"/>
              <a:t>With context, we have </a:t>
            </a:r>
            <a:r>
              <a:rPr lang="en-AU" sz="1200" b="1" u="sng"/>
              <a:t>clearly identified the problem at hand </a:t>
            </a:r>
            <a:r>
              <a:rPr lang="en-AU" sz="1200"/>
              <a:t>and have elucidated on how our initiative may solve this problem, alongside the commercial implications this will have on the business.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b="1"/>
              <a:t>Criteria for Success</a:t>
            </a:r>
            <a:r>
              <a:rPr lang="en-AU" b="0"/>
              <a:t>: Clearly defining the criteria for success ensures that the scope of your work is clearly defined and understood. Otherwise, if this isn’t defined – your work will never end which will result in mismatched expectations.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b="1"/>
              <a:t>Scope of Solution Space: </a:t>
            </a:r>
            <a:r>
              <a:rPr lang="en-AU" b="0"/>
              <a:t>Scoping out the solution space ensures that the business initiative is SPECIFIC for a certain segment or area. This prevents solutions that have been developed being scaled and applied for all other business units that the solution may not be responsible or scalable for.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b="1"/>
              <a:t>Constraints within Solution Space: </a:t>
            </a:r>
            <a:r>
              <a:rPr lang="en-AU" b="0"/>
              <a:t>Looking forward, what are the foreseeable problems we are likely to encounter? Could this be stakeholder resistance? Could this be we don’t have access to the right data?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b="1"/>
              <a:t>Stakeholders to provide key insight: </a:t>
            </a:r>
            <a:r>
              <a:rPr lang="en-AU" b="0"/>
              <a:t>Who are the people I need to speak to, to get the answers I need for my data analysis?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b="1"/>
              <a:t>What key data sources are required</a:t>
            </a:r>
            <a:r>
              <a:rPr lang="en-AU" b="0"/>
              <a:t>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b="0"/>
              <a:t>Based off my discussions with the key stakeholders – can we clearly list out all the data sources we need so we can make a highly targeted request as opposed to a scatter-gun approach where we ask for a bit of everything?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1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">
          <a:extLst>
            <a:ext uri="{FF2B5EF4-FFF2-40B4-BE49-F238E27FC236}">
              <a16:creationId xmlns:a16="http://schemas.microsoft.com/office/drawing/2014/main" id="{21ABA75E-4354-4401-440C-2909A3EDA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>
            <a:extLst>
              <a:ext uri="{FF2B5EF4-FFF2-40B4-BE49-F238E27FC236}">
                <a16:creationId xmlns:a16="http://schemas.microsoft.com/office/drawing/2014/main" id="{B8544701-6942-A1C9-5914-148D8F365A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042320" y="9493393"/>
            <a:ext cx="169918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lang="en-AU" sz="1800" b="0" i="0" u="none" strike="noStrike" cap="none">
                <a:solidFill>
                  <a:srgbClr val="000000"/>
                </a:solidFill>
              </a:rPr>
              <a:t>5</a:t>
            </a:fld>
            <a:endParaRPr sz="1800" b="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17" name="Google Shape;17;p1:notes">
            <a:extLst>
              <a:ext uri="{FF2B5EF4-FFF2-40B4-BE49-F238E27FC236}">
                <a16:creationId xmlns:a16="http://schemas.microsoft.com/office/drawing/2014/main" id="{2314BB04-5E20-5E25-CDE5-88AA84A9D9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2319338" y="1265238"/>
            <a:ext cx="11201401" cy="8401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" name="Google Shape;18;p1:notes">
            <a:extLst>
              <a:ext uri="{FF2B5EF4-FFF2-40B4-BE49-F238E27FC236}">
                <a16:creationId xmlns:a16="http://schemas.microsoft.com/office/drawing/2014/main" id="{15115A82-0726-0174-8A8C-8FA7B966E6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9535" y="605318"/>
            <a:ext cx="547079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b="1"/>
              <a:t>Hypothesis: </a:t>
            </a:r>
            <a:r>
              <a:rPr lang="en-AU" sz="12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a Hypothesis with an emphasis on SMART principles. </a:t>
            </a:r>
            <a:r>
              <a:rPr lang="en-AU" sz="12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AU" sz="1200" b="1" i="1"/>
              <a:t>S – Specific, M – Measurable, A – Achievable, R – Realistic, T – Timebound). </a:t>
            </a:r>
            <a:r>
              <a:rPr lang="en-AU" sz="1200" b="0" i="0"/>
              <a:t>If you cannot do this, you </a:t>
            </a:r>
            <a:r>
              <a:rPr lang="en-AU" sz="1200" b="1" i="0"/>
              <a:t>do not</a:t>
            </a:r>
            <a:r>
              <a:rPr lang="en-AU" sz="1200" b="0" i="0"/>
              <a:t> have a good grasp on the business problem.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b="1"/>
              <a:t>Context: </a:t>
            </a:r>
            <a:r>
              <a:rPr lang="en-AU" sz="1200"/>
              <a:t>With context, we have </a:t>
            </a:r>
            <a:r>
              <a:rPr lang="en-AU" sz="1200" b="1" u="sng"/>
              <a:t>clearly identified the problem at hand </a:t>
            </a:r>
            <a:r>
              <a:rPr lang="en-AU" sz="1200"/>
              <a:t>and have elucidated on how our initiative may solve this problem, alongside the commercial implications this will have on the business.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b="1"/>
              <a:t>Criteria for Success</a:t>
            </a:r>
            <a:r>
              <a:rPr lang="en-AU" b="0"/>
              <a:t>: Clearly defining the criteria for success ensures that the scope of your work is clearly defined and understood. Otherwise, if this isn’t defined – your work will never end which will result in mismatched expectations.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b="1"/>
              <a:t>Scope of Solution Space: </a:t>
            </a:r>
            <a:r>
              <a:rPr lang="en-AU" b="0"/>
              <a:t>Scoping out the solution space ensures that the business initiative is SPECIFIC for a certain segment or area. This prevents solutions that have been developed being scaled and applied for all other business units that the solution may not be responsible or scalable for.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b="1"/>
              <a:t>Constraints within Solution Space: </a:t>
            </a:r>
            <a:r>
              <a:rPr lang="en-AU" b="0"/>
              <a:t>Looking forward, what are the foreseeable problems we are likely to encounter? Could this be stakeholder resistance? Could this be we don’t have access to the right data?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b="1"/>
              <a:t>Stakeholders to provide key insight: </a:t>
            </a:r>
            <a:r>
              <a:rPr lang="en-AU" b="0"/>
              <a:t>Who are the people I need to speak to, to get the answers I need for my data analysis?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b="1"/>
              <a:t>What key data sources are required</a:t>
            </a:r>
            <a:r>
              <a:rPr lang="en-AU" b="0"/>
              <a:t>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b="0"/>
              <a:t>Based off my discussions with the key stakeholders – can we clearly list out all the data sources we need so we can make a highly targeted request as opposed to a scatter-gun approach where we ask for a bit of everything?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1"/>
          </a:p>
        </p:txBody>
      </p:sp>
    </p:spTree>
    <p:extLst>
      <p:ext uri="{BB962C8B-B14F-4D97-AF65-F5344CB8AC3E}">
        <p14:creationId xmlns:p14="http://schemas.microsoft.com/office/powerpoint/2010/main" val="28291940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AU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AU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4939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74945" y="234863"/>
            <a:ext cx="8794113" cy="29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BFDFB-4250-4591-8F0D-895B7AD377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123937-B7C7-467A-BA83-77A705DD85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95F04-5EE5-483B-A262-859F7A1A1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11C9B-B280-4EDA-9B6F-9E69993FCB4D}" type="datetimeFigureOut">
              <a:rPr lang="en-AU" smtClean="0"/>
              <a:t>12/1/2025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EB039-59DE-4748-AABA-5AAFDF4D0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F0EEB-3362-42E4-BE99-83E8F9E50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44E23-8D5E-4B20-814C-3B4936BE65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2475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298444" y="37255"/>
            <a:ext cx="670614" cy="12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6"/>
              <a:buFont typeface="Arial"/>
              <a:buNone/>
            </a:pPr>
            <a:endParaRPr sz="81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2343099" y="2570857"/>
            <a:ext cx="4389768" cy="125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81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40"/>
              <a:buFont typeface="Arial"/>
              <a:buChar char="▪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293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58"/>
              <a:buFont typeface="Arial"/>
              <a:buChar char="–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293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58"/>
              <a:buFont typeface="Arial"/>
              <a:buChar char="▫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08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8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08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080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080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174945" y="234863"/>
            <a:ext cx="8794113" cy="29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8F738-7ED4-7495-2AAF-DB8A7B7650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11A103-640A-1E44-6AD9-DB3658F7B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44E23-8D5E-4B20-814C-3B4936BE6544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3228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34A1-33CA-E998-0571-6CABD67009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2135914"/>
            <a:ext cx="6858000" cy="2387600"/>
          </a:xfrm>
        </p:spPr>
        <p:txBody>
          <a:bodyPr/>
          <a:lstStyle/>
          <a:p>
            <a:r>
              <a:rPr lang="en-US" dirty="0"/>
              <a:t>Reference Problem Statement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E0961-1D43-24AF-446F-9761D78BE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44E23-8D5E-4B20-814C-3B4936BE6544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1661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"/>
          <p:cNvSpPr/>
          <p:nvPr/>
        </p:nvSpPr>
        <p:spPr>
          <a:xfrm>
            <a:off x="137949" y="1576013"/>
            <a:ext cx="4344156" cy="4681063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endParaRPr sz="142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87388" y="1576013"/>
            <a:ext cx="4344156" cy="4681063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endParaRPr sz="142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218936" y="1618127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28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668375" y="1618127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01195" y="1650181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050634" y="1650181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Constraints within solution space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668375" y="3207096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218936" y="3207096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01195" y="3239152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Criteria for success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5050634" y="3239152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Stakeholders to provide key insight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218936" y="4797685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4668375" y="4797685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01195" y="4831972"/>
            <a:ext cx="3597454" cy="219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Scope of solution space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5050634" y="4829741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>
                <a:solidFill>
                  <a:schemeClr val="dk1"/>
                </a:solidFill>
              </a:rPr>
              <a:t>Key</a:t>
            </a:r>
            <a:r>
              <a:rPr lang="en-AU" sz="142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data sources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143108" y="1964976"/>
            <a:ext cx="4324418" cy="1245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7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&lt;Why are </a:t>
            </a:r>
            <a:r>
              <a:rPr lang="en-AU" sz="1070" b="1" dirty="0"/>
              <a:t>you</a:t>
            </a:r>
            <a:r>
              <a:rPr lang="en-AU" sz="107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AU" sz="1070" b="1" dirty="0"/>
              <a:t>working on this problem</a:t>
            </a:r>
            <a:r>
              <a:rPr lang="en-AU" sz="107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?&gt;</a:t>
            </a:r>
            <a:endParaRPr dirty="0"/>
          </a:p>
        </p:txBody>
      </p:sp>
      <p:sp>
        <p:nvSpPr>
          <p:cNvPr id="35" name="Google Shape;35;p1"/>
          <p:cNvSpPr txBox="1"/>
          <p:nvPr/>
        </p:nvSpPr>
        <p:spPr>
          <a:xfrm>
            <a:off x="143108" y="3538874"/>
            <a:ext cx="4324418" cy="141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71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&lt;What is the key criteria </a:t>
            </a:r>
            <a:r>
              <a:rPr lang="en-AU" sz="1071" b="1" dirty="0"/>
              <a:t>that</a:t>
            </a:r>
            <a:r>
              <a:rPr lang="en-AU" sz="1071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will deem this work </a:t>
            </a:r>
            <a:r>
              <a:rPr lang="en-AU" sz="1071" b="1" dirty="0"/>
              <a:t>successful</a:t>
            </a:r>
            <a:r>
              <a:rPr lang="en-AU" sz="1071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?&gt;</a:t>
            </a:r>
            <a:endParaRPr sz="1071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/>
          <p:cNvSpPr txBox="1"/>
          <p:nvPr/>
        </p:nvSpPr>
        <p:spPr>
          <a:xfrm>
            <a:off x="186842" y="5184805"/>
            <a:ext cx="4324418" cy="751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71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AU" sz="1071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the focus of this business initiative? </a:t>
            </a:r>
            <a:r>
              <a:rPr lang="en-AU" sz="1071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I.e. What are </a:t>
            </a:r>
            <a:r>
              <a:rPr lang="en-AU" sz="1071" b="1" dirty="0">
                <a:extLst>
                  <a:ext uri="http://customooxmlschemas.google.com/">
              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you</a:t>
            </a:r>
            <a:r>
              <a:rPr lang="en-AU" sz="1071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</a:t>
            </a:r>
            <a:r>
              <a:rPr lang="en-AU" sz="1071" b="1" dirty="0">
                <a:extLst>
                  <a:ext uri="http://customooxmlschemas.google.com/">
              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"/>
                  </a:ext>
                </a:extLst>
              </a:rPr>
              <a:t>specific items will you focus on exclusively</a:t>
            </a:r>
            <a:r>
              <a:rPr lang="en-AU" sz="1071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</a:ext>
                </a:extLst>
              </a:rPr>
              <a:t>?</a:t>
            </a:r>
            <a:r>
              <a:rPr lang="en-AU" sz="1071" b="1" dirty="0"/>
              <a:t>&gt;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"/>
          <p:cNvSpPr txBox="1"/>
          <p:nvPr/>
        </p:nvSpPr>
        <p:spPr>
          <a:xfrm>
            <a:off x="4558232" y="1963919"/>
            <a:ext cx="4324418" cy="1081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7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&lt;What constraints exist </a:t>
            </a:r>
            <a:r>
              <a:rPr lang="en-AU" sz="1070" b="1" dirty="0"/>
              <a:t>that may</a:t>
            </a:r>
            <a:r>
              <a:rPr lang="en-AU" sz="107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prevent this business initiative from succeeding?&gt;</a:t>
            </a:r>
            <a:endParaRPr sz="107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4590928" y="5085174"/>
            <a:ext cx="4324418" cy="1081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7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&lt;What are the key pieces of data </a:t>
            </a:r>
            <a:r>
              <a:rPr lang="en-AU" sz="1070" b="1" dirty="0"/>
              <a:t>you</a:t>
            </a:r>
            <a:r>
              <a:rPr lang="en-AU" sz="107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need to answer the questions </a:t>
            </a:r>
            <a:r>
              <a:rPr lang="en-AU" sz="1070" b="1" dirty="0"/>
              <a:t>related to the </a:t>
            </a:r>
            <a:r>
              <a:rPr lang="en-AU" sz="107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r>
              <a:rPr lang="en-AU" sz="1070" b="1" dirty="0"/>
              <a:t> you</a:t>
            </a:r>
            <a:r>
              <a:rPr lang="en-AU" sz="107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trying to solve?&gt;</a:t>
            </a:r>
            <a:endParaRPr sz="107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6633337" y="6524418"/>
            <a:ext cx="432048" cy="205317"/>
          </a:xfrm>
          <a:prstGeom prst="chevron">
            <a:avLst>
              <a:gd name="adj" fmla="val 50000"/>
            </a:avLst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AU"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7028512" y="6513711"/>
            <a:ext cx="432048" cy="216024"/>
          </a:xfrm>
          <a:prstGeom prst="chevron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AU"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7452320" y="6503004"/>
            <a:ext cx="432048" cy="216024"/>
          </a:xfrm>
          <a:prstGeom prst="chevron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AU"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7846662" y="6508081"/>
            <a:ext cx="432048" cy="216024"/>
          </a:xfrm>
          <a:prstGeom prst="chevron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AU"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8245692" y="6503004"/>
            <a:ext cx="432048" cy="216024"/>
          </a:xfrm>
          <a:prstGeom prst="chevron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AU"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8099130" y="707128"/>
            <a:ext cx="432048" cy="205317"/>
          </a:xfrm>
          <a:prstGeom prst="chevron">
            <a:avLst>
              <a:gd name="adj" fmla="val 50000"/>
            </a:avLst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AU"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121750" y="138588"/>
            <a:ext cx="7724912" cy="1137079"/>
          </a:xfrm>
          <a:prstGeom prst="wedgeRectCallout">
            <a:avLst>
              <a:gd name="adj1" fmla="val 53513"/>
              <a:gd name="adj2" fmla="val 6588"/>
            </a:avLst>
          </a:prstGeom>
          <a:solidFill>
            <a:srgbClr val="FEF2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"/>
          <p:cNvSpPr txBox="1">
            <a:spLocks noGrp="1"/>
          </p:cNvSpPr>
          <p:nvPr>
            <p:ph type="title"/>
          </p:nvPr>
        </p:nvSpPr>
        <p:spPr>
          <a:xfrm>
            <a:off x="184140" y="189590"/>
            <a:ext cx="879359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sz="2000" dirty="0">
                <a:solidFill>
                  <a:srgbClr val="2974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Problem Statement Worksheet (Hypothesis Formation)</a:t>
            </a:r>
            <a:endParaRPr dirty="0"/>
          </a:p>
        </p:txBody>
      </p:sp>
      <p:sp>
        <p:nvSpPr>
          <p:cNvPr id="47" name="Google Shape;47;p1"/>
          <p:cNvSpPr txBox="1"/>
          <p:nvPr/>
        </p:nvSpPr>
        <p:spPr>
          <a:xfrm>
            <a:off x="4607126" y="3547600"/>
            <a:ext cx="4324418" cy="1081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71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AU" sz="1071" b="1" dirty="0"/>
              <a:t>Who</a:t>
            </a:r>
            <a:r>
              <a:rPr lang="en-AU" sz="1071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the key stakeholders that need to be involved in th</a:t>
            </a:r>
            <a:r>
              <a:rPr lang="en-AU" sz="1071" b="1" dirty="0"/>
              <a:t>is project</a:t>
            </a:r>
            <a:r>
              <a:rPr lang="en-AU" sz="1071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 </a:t>
            </a:r>
            <a:r>
              <a:rPr lang="en-AU" sz="1071" b="1" dirty="0"/>
              <a:t>Where will you source your data from and who will you present your recommendation to once you have identified a solution?</a:t>
            </a:r>
            <a:r>
              <a:rPr lang="en-AU" sz="1071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184140" y="573957"/>
            <a:ext cx="858464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&lt;What is the business problem </a:t>
            </a:r>
            <a:r>
              <a:rPr lang="en-AU" b="1" dirty="0"/>
              <a:t>you</a:t>
            </a:r>
            <a:r>
              <a:rPr lang="en-AU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investigating? (Use SMART principles)&gt;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C1306-381E-DBEA-EA57-D9613BEF36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2235200"/>
            <a:ext cx="6858000" cy="2387600"/>
          </a:xfrm>
        </p:spPr>
        <p:txBody>
          <a:bodyPr/>
          <a:lstStyle/>
          <a:p>
            <a:r>
              <a:rPr lang="en-US" dirty="0"/>
              <a:t>Case Study Problem Statement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64CC8-BED6-0F06-8E77-A340790B1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44E23-8D5E-4B20-814C-3B4936BE6544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0512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">
          <a:extLst>
            <a:ext uri="{FF2B5EF4-FFF2-40B4-BE49-F238E27FC236}">
              <a16:creationId xmlns:a16="http://schemas.microsoft.com/office/drawing/2014/main" id="{ACDB30B0-84EA-79EF-9FD5-670B29F79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">
            <a:extLst>
              <a:ext uri="{FF2B5EF4-FFF2-40B4-BE49-F238E27FC236}">
                <a16:creationId xmlns:a16="http://schemas.microsoft.com/office/drawing/2014/main" id="{6AF2ED3F-0E69-BEAC-B44F-E68CCEA7C6EA}"/>
              </a:ext>
            </a:extLst>
          </p:cNvPr>
          <p:cNvSpPr/>
          <p:nvPr/>
        </p:nvSpPr>
        <p:spPr>
          <a:xfrm>
            <a:off x="137949" y="1576013"/>
            <a:ext cx="4344156" cy="4681063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endParaRPr sz="142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>
            <a:extLst>
              <a:ext uri="{FF2B5EF4-FFF2-40B4-BE49-F238E27FC236}">
                <a16:creationId xmlns:a16="http://schemas.microsoft.com/office/drawing/2014/main" id="{D7E29D7D-A05A-6E5D-8DDD-A633FCAF4C8C}"/>
              </a:ext>
            </a:extLst>
          </p:cNvPr>
          <p:cNvSpPr/>
          <p:nvPr/>
        </p:nvSpPr>
        <p:spPr>
          <a:xfrm>
            <a:off x="4587388" y="1576013"/>
            <a:ext cx="4344156" cy="4681063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endParaRPr sz="142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>
            <a:extLst>
              <a:ext uri="{FF2B5EF4-FFF2-40B4-BE49-F238E27FC236}">
                <a16:creationId xmlns:a16="http://schemas.microsoft.com/office/drawing/2014/main" id="{A97C1975-C3F9-F04E-E4C5-E9266DBF624B}"/>
              </a:ext>
            </a:extLst>
          </p:cNvPr>
          <p:cNvSpPr/>
          <p:nvPr/>
        </p:nvSpPr>
        <p:spPr>
          <a:xfrm>
            <a:off x="218936" y="1618127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28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>
            <a:extLst>
              <a:ext uri="{FF2B5EF4-FFF2-40B4-BE49-F238E27FC236}">
                <a16:creationId xmlns:a16="http://schemas.microsoft.com/office/drawing/2014/main" id="{9C6C9CA1-C001-B42A-3D23-D9D8519DE34E}"/>
              </a:ext>
            </a:extLst>
          </p:cNvPr>
          <p:cNvSpPr/>
          <p:nvPr/>
        </p:nvSpPr>
        <p:spPr>
          <a:xfrm>
            <a:off x="4668375" y="1618127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>
            <a:extLst>
              <a:ext uri="{FF2B5EF4-FFF2-40B4-BE49-F238E27FC236}">
                <a16:creationId xmlns:a16="http://schemas.microsoft.com/office/drawing/2014/main" id="{E531CC06-EBA7-FB01-69F6-1388AD27B7EA}"/>
              </a:ext>
            </a:extLst>
          </p:cNvPr>
          <p:cNvSpPr/>
          <p:nvPr/>
        </p:nvSpPr>
        <p:spPr>
          <a:xfrm>
            <a:off x="601195" y="1650181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>
            <a:extLst>
              <a:ext uri="{FF2B5EF4-FFF2-40B4-BE49-F238E27FC236}">
                <a16:creationId xmlns:a16="http://schemas.microsoft.com/office/drawing/2014/main" id="{22242D0F-B20F-BEC7-7B3D-B0E823847FFB}"/>
              </a:ext>
            </a:extLst>
          </p:cNvPr>
          <p:cNvSpPr/>
          <p:nvPr/>
        </p:nvSpPr>
        <p:spPr>
          <a:xfrm>
            <a:off x="5050634" y="1650181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Constraints within solution space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>
            <a:extLst>
              <a:ext uri="{FF2B5EF4-FFF2-40B4-BE49-F238E27FC236}">
                <a16:creationId xmlns:a16="http://schemas.microsoft.com/office/drawing/2014/main" id="{0300790E-D6F2-6198-B062-2AC8FFAF1F1D}"/>
              </a:ext>
            </a:extLst>
          </p:cNvPr>
          <p:cNvSpPr/>
          <p:nvPr/>
        </p:nvSpPr>
        <p:spPr>
          <a:xfrm>
            <a:off x="4658469" y="3394648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>
            <a:extLst>
              <a:ext uri="{FF2B5EF4-FFF2-40B4-BE49-F238E27FC236}">
                <a16:creationId xmlns:a16="http://schemas.microsoft.com/office/drawing/2014/main" id="{671CC9AF-872C-18B9-D6B4-0D68A608161F}"/>
              </a:ext>
            </a:extLst>
          </p:cNvPr>
          <p:cNvSpPr/>
          <p:nvPr/>
        </p:nvSpPr>
        <p:spPr>
          <a:xfrm>
            <a:off x="218936" y="3207096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>
            <a:extLst>
              <a:ext uri="{FF2B5EF4-FFF2-40B4-BE49-F238E27FC236}">
                <a16:creationId xmlns:a16="http://schemas.microsoft.com/office/drawing/2014/main" id="{E8FFF4E0-7A33-A2AC-4F7D-10AD89F8D3E7}"/>
              </a:ext>
            </a:extLst>
          </p:cNvPr>
          <p:cNvSpPr/>
          <p:nvPr/>
        </p:nvSpPr>
        <p:spPr>
          <a:xfrm>
            <a:off x="601195" y="3239152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Criteria for success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>
            <a:extLst>
              <a:ext uri="{FF2B5EF4-FFF2-40B4-BE49-F238E27FC236}">
                <a16:creationId xmlns:a16="http://schemas.microsoft.com/office/drawing/2014/main" id="{6C910C58-52CE-06AA-8934-C4FCAF28620C}"/>
              </a:ext>
            </a:extLst>
          </p:cNvPr>
          <p:cNvSpPr/>
          <p:nvPr/>
        </p:nvSpPr>
        <p:spPr>
          <a:xfrm>
            <a:off x="5037677" y="3406224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Stakeholders to provide key insight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>
            <a:extLst>
              <a:ext uri="{FF2B5EF4-FFF2-40B4-BE49-F238E27FC236}">
                <a16:creationId xmlns:a16="http://schemas.microsoft.com/office/drawing/2014/main" id="{07D417B0-14A7-8749-EB36-C981D0C5B477}"/>
              </a:ext>
            </a:extLst>
          </p:cNvPr>
          <p:cNvSpPr/>
          <p:nvPr/>
        </p:nvSpPr>
        <p:spPr>
          <a:xfrm>
            <a:off x="218936" y="4797685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>
            <a:extLst>
              <a:ext uri="{FF2B5EF4-FFF2-40B4-BE49-F238E27FC236}">
                <a16:creationId xmlns:a16="http://schemas.microsoft.com/office/drawing/2014/main" id="{5631B828-CAD1-F6E0-ADE0-50B776CED043}"/>
              </a:ext>
            </a:extLst>
          </p:cNvPr>
          <p:cNvSpPr/>
          <p:nvPr/>
        </p:nvSpPr>
        <p:spPr>
          <a:xfrm>
            <a:off x="4668375" y="4797685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>
            <a:extLst>
              <a:ext uri="{FF2B5EF4-FFF2-40B4-BE49-F238E27FC236}">
                <a16:creationId xmlns:a16="http://schemas.microsoft.com/office/drawing/2014/main" id="{8DD984DC-E9CB-0312-B00E-A7BD2A85517C}"/>
              </a:ext>
            </a:extLst>
          </p:cNvPr>
          <p:cNvSpPr/>
          <p:nvPr/>
        </p:nvSpPr>
        <p:spPr>
          <a:xfrm>
            <a:off x="601195" y="4831972"/>
            <a:ext cx="3597454" cy="219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Scope of solution space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>
            <a:extLst>
              <a:ext uri="{FF2B5EF4-FFF2-40B4-BE49-F238E27FC236}">
                <a16:creationId xmlns:a16="http://schemas.microsoft.com/office/drawing/2014/main" id="{4C191126-8DCF-ACD8-12C8-5172455506D0}"/>
              </a:ext>
            </a:extLst>
          </p:cNvPr>
          <p:cNvSpPr/>
          <p:nvPr/>
        </p:nvSpPr>
        <p:spPr>
          <a:xfrm>
            <a:off x="5050634" y="4829741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>
                <a:solidFill>
                  <a:schemeClr val="dk1"/>
                </a:solidFill>
              </a:rPr>
              <a:t>Key</a:t>
            </a:r>
            <a:r>
              <a:rPr lang="en-AU" sz="142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data sources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>
            <a:extLst>
              <a:ext uri="{FF2B5EF4-FFF2-40B4-BE49-F238E27FC236}">
                <a16:creationId xmlns:a16="http://schemas.microsoft.com/office/drawing/2014/main" id="{87471CA0-3C81-1C57-03E4-AD4532E438AC}"/>
              </a:ext>
            </a:extLst>
          </p:cNvPr>
          <p:cNvSpPr txBox="1"/>
          <p:nvPr/>
        </p:nvSpPr>
        <p:spPr>
          <a:xfrm>
            <a:off x="143108" y="1964976"/>
            <a:ext cx="4324418" cy="1245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The retail industry is becoming increasingly competitive, and understanding customer behavior is essential for driving customer retention, maximizing sales, and optimizing inventory. This initiative focuses on leveraging data-driven insights to improve sales and customer engagement through targeted strategies.</a:t>
            </a:r>
            <a:endParaRPr sz="1000" dirty="0">
              <a:solidFill>
                <a:schemeClr val="dk1"/>
              </a:solidFill>
            </a:endParaRPr>
          </a:p>
        </p:txBody>
      </p:sp>
      <p:sp>
        <p:nvSpPr>
          <p:cNvPr id="35" name="Google Shape;35;p1">
            <a:extLst>
              <a:ext uri="{FF2B5EF4-FFF2-40B4-BE49-F238E27FC236}">
                <a16:creationId xmlns:a16="http://schemas.microsoft.com/office/drawing/2014/main" id="{6618BD9D-D114-F597-8127-BFCB504B9209}"/>
              </a:ext>
            </a:extLst>
          </p:cNvPr>
          <p:cNvSpPr txBox="1"/>
          <p:nvPr/>
        </p:nvSpPr>
        <p:spPr>
          <a:xfrm>
            <a:off x="121750" y="3605421"/>
            <a:ext cx="4230588" cy="1125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Customer retention rates improve by at least 10% within six months.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Sales in high-performing product categories increase by 5%.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Clear customer segmentation models and actionable insights are developed to guide marketing and sales strategies.</a:t>
            </a:r>
            <a:endParaRPr sz="1071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>
            <a:extLst>
              <a:ext uri="{FF2B5EF4-FFF2-40B4-BE49-F238E27FC236}">
                <a16:creationId xmlns:a16="http://schemas.microsoft.com/office/drawing/2014/main" id="{2E88AAF8-1D21-0A45-6DB8-864995A961C1}"/>
              </a:ext>
            </a:extLst>
          </p:cNvPr>
          <p:cNvSpPr txBox="1"/>
          <p:nvPr/>
        </p:nvSpPr>
        <p:spPr>
          <a:xfrm>
            <a:off x="137949" y="5152545"/>
            <a:ext cx="4295263" cy="981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Identifying customer segments based on demographic and purchase data.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Analyzing trends in purchase frequency, preferred payment methods, and product preferences.</a:t>
            </a:r>
            <a:endParaRPr sz="1000" dirty="0">
              <a:solidFill>
                <a:schemeClr val="dk1"/>
              </a:solidFill>
            </a:endParaRPr>
          </a:p>
        </p:txBody>
      </p:sp>
      <p:sp>
        <p:nvSpPr>
          <p:cNvPr id="37" name="Google Shape;37;p1">
            <a:extLst>
              <a:ext uri="{FF2B5EF4-FFF2-40B4-BE49-F238E27FC236}">
                <a16:creationId xmlns:a16="http://schemas.microsoft.com/office/drawing/2014/main" id="{F754B1D1-D428-95BD-FBB5-22DBF5D351A1}"/>
              </a:ext>
            </a:extLst>
          </p:cNvPr>
          <p:cNvSpPr txBox="1"/>
          <p:nvPr/>
        </p:nvSpPr>
        <p:spPr>
          <a:xfrm>
            <a:off x="4600106" y="1919301"/>
            <a:ext cx="4400786" cy="125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Incomplete or missing data for some customers or transactions.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Budget limitations for implementing marketing or retention strategies.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Time constraints to deliver actionable insights within six months.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Variability in external factors like economic conditions or market trends.</a:t>
            </a:r>
            <a:endParaRPr lang="en-AU" sz="1000" dirty="0"/>
          </a:p>
        </p:txBody>
      </p:sp>
      <p:sp>
        <p:nvSpPr>
          <p:cNvPr id="38" name="Google Shape;38;p1">
            <a:extLst>
              <a:ext uri="{FF2B5EF4-FFF2-40B4-BE49-F238E27FC236}">
                <a16:creationId xmlns:a16="http://schemas.microsoft.com/office/drawing/2014/main" id="{12443C79-5EA8-AABF-2F31-FA3A7D5C2E4F}"/>
              </a:ext>
            </a:extLst>
          </p:cNvPr>
          <p:cNvSpPr txBox="1"/>
          <p:nvPr/>
        </p:nvSpPr>
        <p:spPr>
          <a:xfrm>
            <a:off x="4590928" y="5085174"/>
            <a:ext cx="4324418" cy="1081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Transaction Data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/>
              <a:t>Customer demographics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/>
              <a:t>Behavioral Data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/>
              <a:t>Discounts and promo codes used</a:t>
            </a:r>
          </a:p>
        </p:txBody>
      </p:sp>
      <p:sp>
        <p:nvSpPr>
          <p:cNvPr id="39" name="Google Shape;39;p1">
            <a:extLst>
              <a:ext uri="{FF2B5EF4-FFF2-40B4-BE49-F238E27FC236}">
                <a16:creationId xmlns:a16="http://schemas.microsoft.com/office/drawing/2014/main" id="{BCE15C46-97B4-1375-71BE-855D0A732B32}"/>
              </a:ext>
            </a:extLst>
          </p:cNvPr>
          <p:cNvSpPr/>
          <p:nvPr/>
        </p:nvSpPr>
        <p:spPr>
          <a:xfrm>
            <a:off x="6633337" y="6524418"/>
            <a:ext cx="432048" cy="205317"/>
          </a:xfrm>
          <a:prstGeom prst="chevron">
            <a:avLst>
              <a:gd name="adj" fmla="val 50000"/>
            </a:avLst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AU"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">
            <a:extLst>
              <a:ext uri="{FF2B5EF4-FFF2-40B4-BE49-F238E27FC236}">
                <a16:creationId xmlns:a16="http://schemas.microsoft.com/office/drawing/2014/main" id="{56DB8CC5-C1DE-1839-56C7-B79668F29FC5}"/>
              </a:ext>
            </a:extLst>
          </p:cNvPr>
          <p:cNvSpPr/>
          <p:nvPr/>
        </p:nvSpPr>
        <p:spPr>
          <a:xfrm>
            <a:off x="7028512" y="6513711"/>
            <a:ext cx="432048" cy="216024"/>
          </a:xfrm>
          <a:prstGeom prst="chevron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AU"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">
            <a:extLst>
              <a:ext uri="{FF2B5EF4-FFF2-40B4-BE49-F238E27FC236}">
                <a16:creationId xmlns:a16="http://schemas.microsoft.com/office/drawing/2014/main" id="{6A68F5FA-7DA9-82D0-2E7A-736226C72A70}"/>
              </a:ext>
            </a:extLst>
          </p:cNvPr>
          <p:cNvSpPr/>
          <p:nvPr/>
        </p:nvSpPr>
        <p:spPr>
          <a:xfrm>
            <a:off x="7452320" y="6503004"/>
            <a:ext cx="432048" cy="216024"/>
          </a:xfrm>
          <a:prstGeom prst="chevron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AU"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">
            <a:extLst>
              <a:ext uri="{FF2B5EF4-FFF2-40B4-BE49-F238E27FC236}">
                <a16:creationId xmlns:a16="http://schemas.microsoft.com/office/drawing/2014/main" id="{7B3F2048-A0E6-20CE-C595-FC0D90456281}"/>
              </a:ext>
            </a:extLst>
          </p:cNvPr>
          <p:cNvSpPr/>
          <p:nvPr/>
        </p:nvSpPr>
        <p:spPr>
          <a:xfrm>
            <a:off x="7846662" y="6508081"/>
            <a:ext cx="432048" cy="216024"/>
          </a:xfrm>
          <a:prstGeom prst="chevron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AU"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">
            <a:extLst>
              <a:ext uri="{FF2B5EF4-FFF2-40B4-BE49-F238E27FC236}">
                <a16:creationId xmlns:a16="http://schemas.microsoft.com/office/drawing/2014/main" id="{B1BD914F-9877-BB8E-206A-A3956AE3CDC0}"/>
              </a:ext>
            </a:extLst>
          </p:cNvPr>
          <p:cNvSpPr/>
          <p:nvPr/>
        </p:nvSpPr>
        <p:spPr>
          <a:xfrm>
            <a:off x="8245692" y="6503004"/>
            <a:ext cx="432048" cy="216024"/>
          </a:xfrm>
          <a:prstGeom prst="chevron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AU"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">
            <a:extLst>
              <a:ext uri="{FF2B5EF4-FFF2-40B4-BE49-F238E27FC236}">
                <a16:creationId xmlns:a16="http://schemas.microsoft.com/office/drawing/2014/main" id="{588E2012-DEB6-3146-8BDB-00F8E15D2B44}"/>
              </a:ext>
            </a:extLst>
          </p:cNvPr>
          <p:cNvSpPr/>
          <p:nvPr/>
        </p:nvSpPr>
        <p:spPr>
          <a:xfrm>
            <a:off x="8099130" y="707128"/>
            <a:ext cx="432048" cy="205317"/>
          </a:xfrm>
          <a:prstGeom prst="chevron">
            <a:avLst>
              <a:gd name="adj" fmla="val 50000"/>
            </a:avLst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AU"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">
            <a:extLst>
              <a:ext uri="{FF2B5EF4-FFF2-40B4-BE49-F238E27FC236}">
                <a16:creationId xmlns:a16="http://schemas.microsoft.com/office/drawing/2014/main" id="{DB89E084-58E6-D8AE-A163-A1F4E559D674}"/>
              </a:ext>
            </a:extLst>
          </p:cNvPr>
          <p:cNvSpPr/>
          <p:nvPr/>
        </p:nvSpPr>
        <p:spPr>
          <a:xfrm>
            <a:off x="121750" y="155481"/>
            <a:ext cx="8790056" cy="1137079"/>
          </a:xfrm>
          <a:prstGeom prst="wedgeRectCallout">
            <a:avLst>
              <a:gd name="adj1" fmla="val 53513"/>
              <a:gd name="adj2" fmla="val 6588"/>
            </a:avLst>
          </a:prstGeom>
          <a:solidFill>
            <a:srgbClr val="FEF2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">
            <a:extLst>
              <a:ext uri="{FF2B5EF4-FFF2-40B4-BE49-F238E27FC236}">
                <a16:creationId xmlns:a16="http://schemas.microsoft.com/office/drawing/2014/main" id="{188905A9-125B-9922-1ED0-79EC2FD0F8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1577" y="266478"/>
            <a:ext cx="8793596" cy="379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sz="2000" dirty="0">
                <a:solidFill>
                  <a:srgbClr val="2974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Problem Statement</a:t>
            </a:r>
            <a:endParaRPr dirty="0"/>
          </a:p>
        </p:txBody>
      </p:sp>
      <p:sp>
        <p:nvSpPr>
          <p:cNvPr id="47" name="Google Shape;47;p1">
            <a:extLst>
              <a:ext uri="{FF2B5EF4-FFF2-40B4-BE49-F238E27FC236}">
                <a16:creationId xmlns:a16="http://schemas.microsoft.com/office/drawing/2014/main" id="{D077C431-B49B-C247-7FF9-58793F797A61}"/>
              </a:ext>
            </a:extLst>
          </p:cNvPr>
          <p:cNvSpPr txBox="1"/>
          <p:nvPr/>
        </p:nvSpPr>
        <p:spPr>
          <a:xfrm>
            <a:off x="4587388" y="3693823"/>
            <a:ext cx="4324418" cy="1081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Marketing and Sales teams 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Customer Experience team 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Data Engineering team to ensure data accuracy and availability.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Business leadership 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000" dirty="0"/>
          </a:p>
        </p:txBody>
      </p:sp>
      <p:sp>
        <p:nvSpPr>
          <p:cNvPr id="48" name="Google Shape;48;p1">
            <a:extLst>
              <a:ext uri="{FF2B5EF4-FFF2-40B4-BE49-F238E27FC236}">
                <a16:creationId xmlns:a16="http://schemas.microsoft.com/office/drawing/2014/main" id="{F8B021CF-3E1A-5373-5DC1-95B457E782D2}"/>
              </a:ext>
            </a:extLst>
          </p:cNvPr>
          <p:cNvSpPr txBox="1"/>
          <p:nvPr/>
        </p:nvSpPr>
        <p:spPr>
          <a:xfrm>
            <a:off x="184140" y="573957"/>
            <a:ext cx="8584648" cy="729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/>
              <a:t>How can the business improve its customer retention rate by at least 10% and increase sales in high-performing product categories by 5% within six months by leveraging customer segmentation, analyzing purchasing behavior, and optimizing marketing strategies?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6031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08500-00CC-71C6-9437-1E1475922F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Reference Issue Tree Points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E73AF-03AB-6B0D-FBF1-E00D64EAB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44E23-8D5E-4B20-814C-3B4936BE6544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8052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1DF68-1158-F137-46D7-DCB832D75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44E23-8D5E-4B20-814C-3B4936BE6544}" type="slidenum">
              <a:rPr lang="en-AU" smtClean="0"/>
              <a:t>7</a:t>
            </a:fld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4E680C-97C2-6A27-5AA6-6C874D48DFFE}"/>
              </a:ext>
            </a:extLst>
          </p:cNvPr>
          <p:cNvSpPr txBox="1"/>
          <p:nvPr/>
        </p:nvSpPr>
        <p:spPr>
          <a:xfrm>
            <a:off x="413132" y="617257"/>
            <a:ext cx="831773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BB484"/>
                </a:solidFill>
                <a:effectLst/>
                <a:latin typeface="Arial" panose="020B0604020202020204" pitchFamily="34" charset="0"/>
              </a:rPr>
              <a:t>Issue Tree Practice Walk Through</a:t>
            </a:r>
            <a:endParaRPr lang="en-US" dirty="0">
              <a:solidFill>
                <a:srgbClr val="2BB484"/>
              </a:solidFill>
              <a:effectLst/>
              <a:latin typeface="Arial" panose="020B0604020202020204" pitchFamily="34" charset="0"/>
            </a:endParaRPr>
          </a:p>
          <a:p>
            <a:r>
              <a:rPr lang="en-US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• Issue Trees are a logical tool used to break down problem statements to provide a </a:t>
            </a:r>
            <a:r>
              <a:rPr lang="en-US" b="1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logical map for you to follow</a:t>
            </a:r>
            <a:endParaRPr lang="en-US" dirty="0">
              <a:solidFill>
                <a:srgbClr val="6C6C6C"/>
              </a:solidFill>
              <a:effectLst/>
              <a:latin typeface="Arial" panose="020B0604020202020204" pitchFamily="34" charset="0"/>
            </a:endParaRPr>
          </a:p>
          <a:p>
            <a:r>
              <a:rPr lang="en-US" b="1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as you </a:t>
            </a:r>
            <a:r>
              <a:rPr lang="en-US" b="1" dirty="0" err="1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analyse</a:t>
            </a:r>
            <a:r>
              <a:rPr lang="en-US" b="1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 data.</a:t>
            </a:r>
            <a:endParaRPr lang="en-US" dirty="0">
              <a:solidFill>
                <a:srgbClr val="6C6C6C"/>
              </a:solidFill>
              <a:effectLst/>
              <a:latin typeface="Arial" panose="020B0604020202020204" pitchFamily="34" charset="0"/>
            </a:endParaRPr>
          </a:p>
          <a:p>
            <a:r>
              <a:rPr lang="en-US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• A common technique used to breakdown problems is the use of </a:t>
            </a:r>
            <a:r>
              <a:rPr lang="en-US" b="1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Opposite Words </a:t>
            </a:r>
            <a:r>
              <a:rPr lang="en-US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when you create your first</a:t>
            </a:r>
          </a:p>
          <a:p>
            <a:r>
              <a:rPr lang="en-US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branches in your analysis.</a:t>
            </a:r>
          </a:p>
          <a:p>
            <a:r>
              <a:rPr lang="en-US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• The whole purpose of using </a:t>
            </a:r>
            <a:r>
              <a:rPr lang="en-US" b="1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Opposite Words </a:t>
            </a:r>
            <a:r>
              <a:rPr lang="en-US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to guide your analysis is to help structure your thinking into </a:t>
            </a:r>
            <a:r>
              <a:rPr lang="en-US" b="1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one of</a:t>
            </a:r>
            <a:endParaRPr lang="en-US" dirty="0">
              <a:solidFill>
                <a:srgbClr val="6C6C6C"/>
              </a:solidFill>
              <a:effectLst/>
              <a:latin typeface="Arial" panose="020B0604020202020204" pitchFamily="34" charset="0"/>
            </a:endParaRPr>
          </a:p>
          <a:p>
            <a:r>
              <a:rPr lang="en-US" b="1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two viable analysis </a:t>
            </a:r>
            <a:r>
              <a:rPr lang="en-US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paths which is important from a time critical perspective as you can’t possibly examine all</a:t>
            </a:r>
          </a:p>
          <a:p>
            <a:r>
              <a:rPr lang="en-US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pathways.</a:t>
            </a:r>
          </a:p>
          <a:p>
            <a:r>
              <a:rPr lang="en-US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• Issue Trees can be combined with </a:t>
            </a:r>
            <a:r>
              <a:rPr lang="en-US" b="1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values to help size up the value of investigating an Issue</a:t>
            </a:r>
            <a:r>
              <a:rPr lang="en-US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; This is</a:t>
            </a:r>
          </a:p>
          <a:p>
            <a:r>
              <a:rPr lang="en-US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particularly useful when there are many exploration paths that can be taken with respect to your analysis.</a:t>
            </a:r>
          </a:p>
          <a:p>
            <a:r>
              <a:rPr lang="en-US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• Issue Trees are particularly useful when working </a:t>
            </a:r>
            <a:r>
              <a:rPr lang="en-US" b="1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within a data analytics team </a:t>
            </a:r>
            <a:r>
              <a:rPr lang="en-US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and allocating work / exploration</a:t>
            </a:r>
          </a:p>
          <a:p>
            <a:r>
              <a:rPr lang="en-US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avenues to other team members</a:t>
            </a:r>
          </a:p>
          <a:p>
            <a:r>
              <a:rPr lang="en-US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• Lastly, </a:t>
            </a:r>
            <a:r>
              <a:rPr lang="en-US" b="1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there is no RIGHT Issue Tree; Provided the Issue Tree helps break down your problem into micro</a:t>
            </a:r>
            <a:endParaRPr lang="en-US" dirty="0">
              <a:solidFill>
                <a:srgbClr val="6C6C6C"/>
              </a:solidFill>
              <a:effectLst/>
              <a:latin typeface="Arial" panose="020B0604020202020204" pitchFamily="34" charset="0"/>
            </a:endParaRPr>
          </a:p>
          <a:p>
            <a:r>
              <a:rPr lang="en-US" b="1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issues you can </a:t>
            </a:r>
            <a:r>
              <a:rPr lang="en-US" b="1" dirty="0" err="1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analyse</a:t>
            </a:r>
            <a:r>
              <a:rPr lang="en-US" b="1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 - then it has served its purpose.</a:t>
            </a:r>
            <a:endParaRPr lang="en-US" dirty="0">
              <a:solidFill>
                <a:srgbClr val="6C6C6C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333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33119-1C18-03BD-58C8-9B8624FDC6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Issue Tree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1B6723-60BD-F752-47AB-E52DFA563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44E23-8D5E-4B20-814C-3B4936BE6544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4783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A69E757-9AB8-4617-BCB2-18DF6BB315A0}"/>
              </a:ext>
            </a:extLst>
          </p:cNvPr>
          <p:cNvSpPr/>
          <p:nvPr/>
        </p:nvSpPr>
        <p:spPr>
          <a:xfrm>
            <a:off x="445842" y="3431894"/>
            <a:ext cx="1687758" cy="120032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800" dirty="0"/>
              <a:t>How can the business improve its customer retention rate by at least 10% and increase sales in high-performing product categories by 5% within six months by leveraging customer segmentation, analyzing purchasing behavior, and optimizing marketing strategies?</a:t>
            </a:r>
            <a:endParaRPr lang="en-US" sz="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725C11-424B-45E0-8037-3FF5AC9CE071}"/>
              </a:ext>
            </a:extLst>
          </p:cNvPr>
          <p:cNvSpPr/>
          <p:nvPr/>
        </p:nvSpPr>
        <p:spPr>
          <a:xfrm>
            <a:off x="242089" y="492867"/>
            <a:ext cx="8659822" cy="6216770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C6297A-39C4-4A4D-AEA3-09D7B0A92BE8}"/>
              </a:ext>
            </a:extLst>
          </p:cNvPr>
          <p:cNvSpPr txBox="1"/>
          <p:nvPr/>
        </p:nvSpPr>
        <p:spPr>
          <a:xfrm>
            <a:off x="242089" y="105302"/>
            <a:ext cx="571079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50" b="1" dirty="0">
                <a:solidFill>
                  <a:srgbClr val="2FBE9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Issue Tree for Customer Shopping Trends Analysis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99B678-CD6C-447E-8D72-4FEAB43BAB1D}"/>
              </a:ext>
            </a:extLst>
          </p:cNvPr>
          <p:cNvSpPr/>
          <p:nvPr/>
        </p:nvSpPr>
        <p:spPr>
          <a:xfrm>
            <a:off x="2683674" y="1430566"/>
            <a:ext cx="923925" cy="3499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8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3C3776-EBBE-4FD0-85F2-756B5A0B8D56}"/>
              </a:ext>
            </a:extLst>
          </p:cNvPr>
          <p:cNvSpPr/>
          <p:nvPr/>
        </p:nvSpPr>
        <p:spPr>
          <a:xfrm>
            <a:off x="2683675" y="4493136"/>
            <a:ext cx="923925" cy="349931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800" b="1" dirty="0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C7D3E4D4-D42F-43E3-8C89-7AC949D64252}"/>
              </a:ext>
            </a:extLst>
          </p:cNvPr>
          <p:cNvCxnSpPr>
            <a:stCxn id="4" idx="3"/>
            <a:endCxn id="10" idx="1"/>
          </p:cNvCxnSpPr>
          <p:nvPr/>
        </p:nvCxnSpPr>
        <p:spPr>
          <a:xfrm flipV="1">
            <a:off x="2133600" y="1605532"/>
            <a:ext cx="550074" cy="242652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FF8CD2BB-398A-491A-87C6-AB0C54FD36E3}"/>
              </a:ext>
            </a:extLst>
          </p:cNvPr>
          <p:cNvSpPr txBox="1"/>
          <p:nvPr/>
        </p:nvSpPr>
        <p:spPr>
          <a:xfrm>
            <a:off x="2774191" y="1490969"/>
            <a:ext cx="7428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" b="1" dirty="0"/>
              <a:t>Consumer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EA02A53-5337-4268-8961-7A079688873E}"/>
              </a:ext>
            </a:extLst>
          </p:cNvPr>
          <p:cNvSpPr txBox="1"/>
          <p:nvPr/>
        </p:nvSpPr>
        <p:spPr>
          <a:xfrm>
            <a:off x="2527552" y="4535324"/>
            <a:ext cx="15356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         Sales </a:t>
            </a:r>
            <a:endParaRPr lang="en-AU" sz="8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39D251-C367-EC95-F0D7-74D2DE8336EF}"/>
              </a:ext>
            </a:extLst>
          </p:cNvPr>
          <p:cNvSpPr/>
          <p:nvPr/>
        </p:nvSpPr>
        <p:spPr>
          <a:xfrm>
            <a:off x="3563148" y="3274772"/>
            <a:ext cx="923925" cy="3499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E5E800-E50F-5AC6-A08D-45D0A63AB544}"/>
              </a:ext>
            </a:extLst>
          </p:cNvPr>
          <p:cNvSpPr txBox="1"/>
          <p:nvPr/>
        </p:nvSpPr>
        <p:spPr>
          <a:xfrm>
            <a:off x="3655982" y="3342015"/>
            <a:ext cx="8966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" b="1" dirty="0"/>
              <a:t>   Product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21A59A0-96D1-01A0-34B9-232C3E208E40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2534357" y="3449738"/>
            <a:ext cx="10287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425FD35-45FA-CB09-CD36-130DD5BA2E93}"/>
              </a:ext>
            </a:extLst>
          </p:cNvPr>
          <p:cNvCxnSpPr>
            <a:cxnSpLocks/>
          </p:cNvCxnSpPr>
          <p:nvPr/>
        </p:nvCxnSpPr>
        <p:spPr>
          <a:xfrm>
            <a:off x="2125589" y="4208844"/>
            <a:ext cx="4087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8AB098E-AB30-3D94-FB6B-03A5C9A76428}"/>
              </a:ext>
            </a:extLst>
          </p:cNvPr>
          <p:cNvCxnSpPr>
            <a:cxnSpLocks/>
          </p:cNvCxnSpPr>
          <p:nvPr/>
        </p:nvCxnSpPr>
        <p:spPr>
          <a:xfrm flipV="1">
            <a:off x="2534357" y="3429000"/>
            <a:ext cx="0" cy="7798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8F537C3-62C3-EE70-7C38-3BC4474F39A7}"/>
              </a:ext>
            </a:extLst>
          </p:cNvPr>
          <p:cNvCxnSpPr>
            <a:cxnSpLocks/>
          </p:cNvCxnSpPr>
          <p:nvPr/>
        </p:nvCxnSpPr>
        <p:spPr>
          <a:xfrm flipH="1" flipV="1">
            <a:off x="2133600" y="4668101"/>
            <a:ext cx="550075" cy="102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14EFCCBF-9DE0-C9C0-E69C-D80147118741}"/>
              </a:ext>
            </a:extLst>
          </p:cNvPr>
          <p:cNvSpPr/>
          <p:nvPr/>
        </p:nvSpPr>
        <p:spPr>
          <a:xfrm>
            <a:off x="4157676" y="815685"/>
            <a:ext cx="923925" cy="3499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800" b="1" dirty="0"/>
              <a:t>Location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4A1B879-A77D-A3D2-4760-EB34BCF79ED8}"/>
              </a:ext>
            </a:extLst>
          </p:cNvPr>
          <p:cNvSpPr/>
          <p:nvPr/>
        </p:nvSpPr>
        <p:spPr>
          <a:xfrm>
            <a:off x="4157676" y="1375328"/>
            <a:ext cx="923925" cy="3499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800" b="1" dirty="0"/>
              <a:t>Size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C0E7007-9C83-7D7D-525B-386C7E53F39A}"/>
              </a:ext>
            </a:extLst>
          </p:cNvPr>
          <p:cNvSpPr/>
          <p:nvPr/>
        </p:nvSpPr>
        <p:spPr>
          <a:xfrm>
            <a:off x="4157677" y="1912994"/>
            <a:ext cx="923925" cy="3499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800" b="1" dirty="0"/>
              <a:t>Age</a:t>
            </a:r>
            <a:endParaRPr lang="en-AU" sz="8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006991D-00D1-784C-5C85-EBF7F866145D}"/>
              </a:ext>
            </a:extLst>
          </p:cNvPr>
          <p:cNvSpPr/>
          <p:nvPr/>
        </p:nvSpPr>
        <p:spPr>
          <a:xfrm>
            <a:off x="4157677" y="2466990"/>
            <a:ext cx="923925" cy="3499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800" b="1" dirty="0"/>
              <a:t>Gender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98EBFBB-C028-129F-07CF-96197DE87EDA}"/>
              </a:ext>
            </a:extLst>
          </p:cNvPr>
          <p:cNvSpPr/>
          <p:nvPr/>
        </p:nvSpPr>
        <p:spPr>
          <a:xfrm>
            <a:off x="5854212" y="2181554"/>
            <a:ext cx="923925" cy="3499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800" b="1" dirty="0">
                <a:solidFill>
                  <a:schemeClr val="bg1">
                    <a:lumMod val="65000"/>
                  </a:schemeClr>
                </a:solidFill>
              </a:rPr>
              <a:t>Categories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7E21484-322F-872A-7090-73970077B260}"/>
              </a:ext>
            </a:extLst>
          </p:cNvPr>
          <p:cNvSpPr/>
          <p:nvPr/>
        </p:nvSpPr>
        <p:spPr>
          <a:xfrm>
            <a:off x="5854213" y="2750192"/>
            <a:ext cx="923925" cy="3499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800" b="1" dirty="0">
                <a:solidFill>
                  <a:schemeClr val="bg1">
                    <a:lumMod val="65000"/>
                  </a:schemeClr>
                </a:solidFill>
              </a:rPr>
              <a:t>Item Review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8CF93FA-E2DE-BC9F-EF89-383D67E7399A}"/>
              </a:ext>
            </a:extLst>
          </p:cNvPr>
          <p:cNvSpPr/>
          <p:nvPr/>
        </p:nvSpPr>
        <p:spPr>
          <a:xfrm>
            <a:off x="5854213" y="3287776"/>
            <a:ext cx="923925" cy="3499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800" b="1" dirty="0">
                <a:solidFill>
                  <a:schemeClr val="bg1">
                    <a:lumMod val="65000"/>
                  </a:schemeClr>
                </a:solidFill>
              </a:rPr>
              <a:t>($) Amount of Products sold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4045A00-5B2D-CE53-161B-08E559A13CF2}"/>
              </a:ext>
            </a:extLst>
          </p:cNvPr>
          <p:cNvSpPr/>
          <p:nvPr/>
        </p:nvSpPr>
        <p:spPr>
          <a:xfrm>
            <a:off x="5854214" y="3833607"/>
            <a:ext cx="923925" cy="3499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800" b="1" dirty="0">
                <a:solidFill>
                  <a:schemeClr val="bg1">
                    <a:lumMod val="65000"/>
                  </a:schemeClr>
                </a:solidFill>
              </a:rPr>
              <a:t>Quantity Sold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5A486F5B-3B4D-C242-A598-095EDAA6BC51}"/>
              </a:ext>
            </a:extLst>
          </p:cNvPr>
          <p:cNvCxnSpPr>
            <a:endCxn id="42" idx="1"/>
          </p:cNvCxnSpPr>
          <p:nvPr/>
        </p:nvCxnSpPr>
        <p:spPr>
          <a:xfrm>
            <a:off x="3607599" y="1550293"/>
            <a:ext cx="550077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07B20543-E679-1B36-C6B6-4C0074A03E72}"/>
              </a:ext>
            </a:extLst>
          </p:cNvPr>
          <p:cNvCxnSpPr>
            <a:cxnSpLocks/>
          </p:cNvCxnSpPr>
          <p:nvPr/>
        </p:nvCxnSpPr>
        <p:spPr>
          <a:xfrm>
            <a:off x="3805119" y="1549282"/>
            <a:ext cx="0" cy="538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00F7A543-6D08-6F6B-261F-EEB003E929D3}"/>
              </a:ext>
            </a:extLst>
          </p:cNvPr>
          <p:cNvCxnSpPr>
            <a:cxnSpLocks/>
            <a:endCxn id="45" idx="1"/>
          </p:cNvCxnSpPr>
          <p:nvPr/>
        </p:nvCxnSpPr>
        <p:spPr>
          <a:xfrm flipV="1">
            <a:off x="3805119" y="2087960"/>
            <a:ext cx="352558" cy="34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27589AE-0496-02A8-1B65-3422335DDDF9}"/>
              </a:ext>
            </a:extLst>
          </p:cNvPr>
          <p:cNvCxnSpPr/>
          <p:nvPr/>
        </p:nvCxnSpPr>
        <p:spPr>
          <a:xfrm flipV="1">
            <a:off x="3805119" y="990650"/>
            <a:ext cx="0" cy="5586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C68C89E-14CD-1A74-5321-1CF18C3B500A}"/>
              </a:ext>
            </a:extLst>
          </p:cNvPr>
          <p:cNvCxnSpPr>
            <a:endCxn id="39" idx="1"/>
          </p:cNvCxnSpPr>
          <p:nvPr/>
        </p:nvCxnSpPr>
        <p:spPr>
          <a:xfrm>
            <a:off x="3805119" y="990650"/>
            <a:ext cx="352557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15D1920A-D50C-1D4F-EA48-E3DAD7574B69}"/>
              </a:ext>
            </a:extLst>
          </p:cNvPr>
          <p:cNvCxnSpPr/>
          <p:nvPr/>
        </p:nvCxnSpPr>
        <p:spPr>
          <a:xfrm>
            <a:off x="3805119" y="2086948"/>
            <a:ext cx="0" cy="5838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915195D6-4677-7471-BF78-0E672AA406F3}"/>
              </a:ext>
            </a:extLst>
          </p:cNvPr>
          <p:cNvCxnSpPr>
            <a:endCxn id="47" idx="1"/>
          </p:cNvCxnSpPr>
          <p:nvPr/>
        </p:nvCxnSpPr>
        <p:spPr>
          <a:xfrm>
            <a:off x="3805119" y="2641955"/>
            <a:ext cx="35255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969B7506-588B-1EB7-28E9-E6B2854D182D}"/>
              </a:ext>
            </a:extLst>
          </p:cNvPr>
          <p:cNvCxnSpPr>
            <a:cxnSpLocks/>
            <a:endCxn id="52" idx="1"/>
          </p:cNvCxnSpPr>
          <p:nvPr/>
        </p:nvCxnSpPr>
        <p:spPr>
          <a:xfrm>
            <a:off x="5366547" y="3460363"/>
            <a:ext cx="487666" cy="23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DF19597D-F2E6-F490-5816-58C095D4D44F}"/>
              </a:ext>
            </a:extLst>
          </p:cNvPr>
          <p:cNvCxnSpPr/>
          <p:nvPr/>
        </p:nvCxnSpPr>
        <p:spPr>
          <a:xfrm flipV="1">
            <a:off x="5366547" y="2919845"/>
            <a:ext cx="0" cy="5428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A7DB559-616D-5B33-29B4-5616E7B1E4F1}"/>
              </a:ext>
            </a:extLst>
          </p:cNvPr>
          <p:cNvCxnSpPr>
            <a:endCxn id="51" idx="1"/>
          </p:cNvCxnSpPr>
          <p:nvPr/>
        </p:nvCxnSpPr>
        <p:spPr>
          <a:xfrm>
            <a:off x="5366547" y="2925157"/>
            <a:ext cx="48766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E7D7F336-FCEE-50EB-EF97-2703B5657DF8}"/>
              </a:ext>
            </a:extLst>
          </p:cNvPr>
          <p:cNvCxnSpPr>
            <a:cxnSpLocks/>
            <a:endCxn id="49" idx="1"/>
          </p:cNvCxnSpPr>
          <p:nvPr/>
        </p:nvCxnSpPr>
        <p:spPr>
          <a:xfrm>
            <a:off x="5366547" y="2356519"/>
            <a:ext cx="48766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B8AFBE4B-FE0C-639F-83C6-919358EFCCDD}"/>
              </a:ext>
            </a:extLst>
          </p:cNvPr>
          <p:cNvCxnSpPr>
            <a:cxnSpLocks/>
          </p:cNvCxnSpPr>
          <p:nvPr/>
        </p:nvCxnSpPr>
        <p:spPr>
          <a:xfrm>
            <a:off x="5366547" y="2356519"/>
            <a:ext cx="0" cy="5686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0B43594C-E00D-7753-F158-E8FFCDAF6E30}"/>
              </a:ext>
            </a:extLst>
          </p:cNvPr>
          <p:cNvCxnSpPr/>
          <p:nvPr/>
        </p:nvCxnSpPr>
        <p:spPr>
          <a:xfrm flipV="1">
            <a:off x="5366547" y="3448651"/>
            <a:ext cx="0" cy="5428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1282CC68-6163-1F74-A8FB-EE78B64F5A5B}"/>
              </a:ext>
            </a:extLst>
          </p:cNvPr>
          <p:cNvCxnSpPr>
            <a:endCxn id="53" idx="1"/>
          </p:cNvCxnSpPr>
          <p:nvPr/>
        </p:nvCxnSpPr>
        <p:spPr>
          <a:xfrm>
            <a:off x="5366547" y="4008572"/>
            <a:ext cx="487667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E4AD0911-6C2D-9EE2-8E76-0CA00BD565D2}"/>
              </a:ext>
            </a:extLst>
          </p:cNvPr>
          <p:cNvCxnSpPr>
            <a:cxnSpLocks/>
          </p:cNvCxnSpPr>
          <p:nvPr/>
        </p:nvCxnSpPr>
        <p:spPr>
          <a:xfrm>
            <a:off x="4442622" y="3448650"/>
            <a:ext cx="923925" cy="182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B3D9AA53-0692-99CA-C696-486FDB2A771B}"/>
              </a:ext>
            </a:extLst>
          </p:cNvPr>
          <p:cNvSpPr/>
          <p:nvPr/>
        </p:nvSpPr>
        <p:spPr>
          <a:xfrm>
            <a:off x="4930287" y="4363392"/>
            <a:ext cx="923925" cy="349931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800" b="1" dirty="0">
                <a:solidFill>
                  <a:schemeClr val="bg1">
                    <a:lumMod val="65000"/>
                  </a:schemeClr>
                </a:solidFill>
              </a:rPr>
              <a:t>Purchase</a:t>
            </a:r>
            <a:r>
              <a:rPr lang="en-AU" sz="14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AU" sz="800" b="1" dirty="0">
                <a:solidFill>
                  <a:schemeClr val="bg1">
                    <a:lumMod val="65000"/>
                  </a:schemeClr>
                </a:solidFill>
              </a:rPr>
              <a:t>History</a:t>
            </a:r>
            <a:endParaRPr lang="en-AU" sz="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56010968-0AE6-1685-BEF9-7A3B2D7D89C6}"/>
              </a:ext>
            </a:extLst>
          </p:cNvPr>
          <p:cNvSpPr/>
          <p:nvPr/>
        </p:nvSpPr>
        <p:spPr>
          <a:xfrm>
            <a:off x="4930288" y="4932030"/>
            <a:ext cx="923925" cy="349931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800" b="1" dirty="0">
                <a:solidFill>
                  <a:schemeClr val="bg1">
                    <a:lumMod val="65000"/>
                  </a:schemeClr>
                </a:solidFill>
              </a:rPr>
              <a:t>Payment Method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06758494-7B0D-B393-A49A-F2AA02A4FF2E}"/>
              </a:ext>
            </a:extLst>
          </p:cNvPr>
          <p:cNvSpPr/>
          <p:nvPr/>
        </p:nvSpPr>
        <p:spPr>
          <a:xfrm>
            <a:off x="4930288" y="5469614"/>
            <a:ext cx="923925" cy="349931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800" b="1" dirty="0">
                <a:solidFill>
                  <a:schemeClr val="bg1">
                    <a:lumMod val="65000"/>
                  </a:schemeClr>
                </a:solidFill>
              </a:rPr>
              <a:t>Promocode/</a:t>
            </a:r>
          </a:p>
          <a:p>
            <a:pPr algn="ctr"/>
            <a:r>
              <a:rPr lang="en-AU" sz="800" b="1" dirty="0">
                <a:solidFill>
                  <a:schemeClr val="bg1">
                    <a:lumMod val="65000"/>
                  </a:schemeClr>
                </a:solidFill>
              </a:rPr>
              <a:t>Discount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A971091D-9A34-7D9F-B64E-F7EAF46BF56D}"/>
              </a:ext>
            </a:extLst>
          </p:cNvPr>
          <p:cNvSpPr/>
          <p:nvPr/>
        </p:nvSpPr>
        <p:spPr>
          <a:xfrm>
            <a:off x="4930289" y="6015445"/>
            <a:ext cx="923925" cy="349931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800" b="1" dirty="0">
                <a:solidFill>
                  <a:schemeClr val="bg1">
                    <a:lumMod val="65000"/>
                  </a:schemeClr>
                </a:solidFill>
              </a:rPr>
              <a:t>Shipping/other purchase ways</a:t>
            </a:r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6B392A8C-92A0-8F3E-718F-4C9F33FA9BF6}"/>
              </a:ext>
            </a:extLst>
          </p:cNvPr>
          <p:cNvCxnSpPr>
            <a:cxnSpLocks/>
            <a:endCxn id="146" idx="1"/>
          </p:cNvCxnSpPr>
          <p:nvPr/>
        </p:nvCxnSpPr>
        <p:spPr>
          <a:xfrm>
            <a:off x="4442622" y="5642201"/>
            <a:ext cx="487666" cy="23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7E71E400-9571-A150-0800-BB3AEAEEE0DC}"/>
              </a:ext>
            </a:extLst>
          </p:cNvPr>
          <p:cNvCxnSpPr/>
          <p:nvPr/>
        </p:nvCxnSpPr>
        <p:spPr>
          <a:xfrm flipV="1">
            <a:off x="4442622" y="5101683"/>
            <a:ext cx="0" cy="5428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D4AC974E-FB96-7FC9-E1CB-A301B86C36E9}"/>
              </a:ext>
            </a:extLst>
          </p:cNvPr>
          <p:cNvCxnSpPr>
            <a:endCxn id="144" idx="1"/>
          </p:cNvCxnSpPr>
          <p:nvPr/>
        </p:nvCxnSpPr>
        <p:spPr>
          <a:xfrm>
            <a:off x="4442622" y="5106995"/>
            <a:ext cx="48766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02FE70CA-79F4-1BDE-07EB-E585D62EE4E3}"/>
              </a:ext>
            </a:extLst>
          </p:cNvPr>
          <p:cNvCxnSpPr>
            <a:cxnSpLocks/>
            <a:endCxn id="142" idx="1"/>
          </p:cNvCxnSpPr>
          <p:nvPr/>
        </p:nvCxnSpPr>
        <p:spPr>
          <a:xfrm>
            <a:off x="4442622" y="4538357"/>
            <a:ext cx="48766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FDE4CBEB-FC35-B9AF-98E7-8EACFB5A44E6}"/>
              </a:ext>
            </a:extLst>
          </p:cNvPr>
          <p:cNvCxnSpPr>
            <a:cxnSpLocks/>
          </p:cNvCxnSpPr>
          <p:nvPr/>
        </p:nvCxnSpPr>
        <p:spPr>
          <a:xfrm>
            <a:off x="4442622" y="4538357"/>
            <a:ext cx="0" cy="5686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BE38731F-291C-2F6A-8570-DAFE24B67C0D}"/>
              </a:ext>
            </a:extLst>
          </p:cNvPr>
          <p:cNvCxnSpPr/>
          <p:nvPr/>
        </p:nvCxnSpPr>
        <p:spPr>
          <a:xfrm flipV="1">
            <a:off x="4442622" y="5630489"/>
            <a:ext cx="0" cy="5428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59683B14-4520-FC9B-5849-A2912A0DCB0B}"/>
              </a:ext>
            </a:extLst>
          </p:cNvPr>
          <p:cNvCxnSpPr>
            <a:endCxn id="147" idx="1"/>
          </p:cNvCxnSpPr>
          <p:nvPr/>
        </p:nvCxnSpPr>
        <p:spPr>
          <a:xfrm>
            <a:off x="4442622" y="6190410"/>
            <a:ext cx="487667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D494F2F0-7EDC-B03A-87C8-F19D59484697}"/>
              </a:ext>
            </a:extLst>
          </p:cNvPr>
          <p:cNvCxnSpPr>
            <a:endCxn id="56" idx="3"/>
          </p:cNvCxnSpPr>
          <p:nvPr/>
        </p:nvCxnSpPr>
        <p:spPr>
          <a:xfrm>
            <a:off x="3607599" y="4652590"/>
            <a:ext cx="455557" cy="58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05810EE5-AB69-BB93-7424-A08DF3BB4119}"/>
              </a:ext>
            </a:extLst>
          </p:cNvPr>
          <p:cNvCxnSpPr>
            <a:cxnSpLocks/>
            <a:stCxn id="56" idx="3"/>
          </p:cNvCxnSpPr>
          <p:nvPr/>
        </p:nvCxnSpPr>
        <p:spPr>
          <a:xfrm>
            <a:off x="4063156" y="4658435"/>
            <a:ext cx="0" cy="8111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96F51947-482C-5B9B-20D1-7EAB379AD167}"/>
              </a:ext>
            </a:extLst>
          </p:cNvPr>
          <p:cNvCxnSpPr/>
          <p:nvPr/>
        </p:nvCxnSpPr>
        <p:spPr>
          <a:xfrm>
            <a:off x="4063156" y="546961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063BA9EA-1EEA-263D-FED7-DBD451D965A0}"/>
              </a:ext>
            </a:extLst>
          </p:cNvPr>
          <p:cNvCxnSpPr/>
          <p:nvPr/>
        </p:nvCxnSpPr>
        <p:spPr>
          <a:xfrm>
            <a:off x="4063156" y="5469614"/>
            <a:ext cx="3794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0138381"/>
      </p:ext>
    </p:extLst>
  </p:cSld>
  <p:clrMapOvr>
    <a:masterClrMapping/>
  </p:clrMapOvr>
</p:sld>
</file>

<file path=ppt/theme/theme1.xml><?xml version="1.0" encoding="utf-8"?>
<a:theme xmlns:a="http://schemas.openxmlformats.org/drawingml/2006/main" name="Synergy_CF_YNR002">
  <a:themeElements>
    <a:clrScheme name="Current">
      <a:dk1>
        <a:srgbClr val="002C46"/>
      </a:dk1>
      <a:lt1>
        <a:srgbClr val="FFFFFF"/>
      </a:lt1>
      <a:dk2>
        <a:srgbClr val="FBC14E"/>
      </a:dk2>
      <a:lt2>
        <a:srgbClr val="879C16"/>
      </a:lt2>
      <a:accent1>
        <a:srgbClr val="99AABE"/>
      </a:accent1>
      <a:accent2>
        <a:srgbClr val="406085"/>
      </a:accent2>
      <a:accent3>
        <a:srgbClr val="002C46"/>
      </a:accent3>
      <a:accent4>
        <a:srgbClr val="FBC14E"/>
      </a:accent4>
      <a:accent5>
        <a:srgbClr val="379BBD"/>
      </a:accent5>
      <a:accent6>
        <a:srgbClr val="808080"/>
      </a:accent6>
      <a:hlink>
        <a:srgbClr val="002C46"/>
      </a:hlink>
      <a:folHlink>
        <a:srgbClr val="FBC1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1308</Words>
  <Application>Microsoft Macintosh PowerPoint</Application>
  <PresentationFormat>On-screen Show (4:3)</PresentationFormat>
  <Paragraphs>138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Quattrocento Sans</vt:lpstr>
      <vt:lpstr>Synergy_CF_YNR002</vt:lpstr>
      <vt:lpstr>Problem Statement</vt:lpstr>
      <vt:lpstr>Reference Problem Statement</vt:lpstr>
      <vt:lpstr>Problem Statement Worksheet (Hypothesis Formation)</vt:lpstr>
      <vt:lpstr>Case Study Problem Statement</vt:lpstr>
      <vt:lpstr>Problem Statement</vt:lpstr>
      <vt:lpstr>Reference Issue Tree Points</vt:lpstr>
      <vt:lpstr>PowerPoint Presentation</vt:lpstr>
      <vt:lpstr>Issue Tree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Christopher H</dc:creator>
  <cp:lastModifiedBy>Lovlesh Kaushik</cp:lastModifiedBy>
  <cp:revision>11</cp:revision>
  <dcterms:modified xsi:type="dcterms:W3CDTF">2025-01-13T02:31:04Z</dcterms:modified>
</cp:coreProperties>
</file>